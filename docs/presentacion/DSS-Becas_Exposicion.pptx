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breve: qué hace el sistema, cómo está construido, demo y limitaciones.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dos etapas. Primero se decide a quién dar la beca; después se vigila que siga cumpliendo. El sistema recomienda con un puntaje, la decisión final es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SQLite porque no requiere instalar servidor; con cambiar provider y DATABASE_URL se pasa a MySQL (decisión D26).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al evaluar un estudiante, la petición pasa por auth, permiso y validación, el controlador llama al motor DSS y guarda con Prisma. El motor no toca la base de datos: por eso se prueba fácil.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baja el promedio, Seguimiento solo AVISA. La beca se quita en Becas: Rechazar (evaluador) o Revocar (solo administrador).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Código: backend/src/dss/criterios.ts y motor.ts. Puntaje académico = promedio de rendimiento y asistencia; social = promedio de situación, carga y vulnerable.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pulsar Calcular puntaje DSS se llama primero a /evaluaciones/calcular (motor + elegibilidad) y luego se guarda. Al guardar se actualiza el resultado del estudiante y queda un evento en su historial.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están en backend/src/dss/ (elegibilidad, ranking, seguimiento) y en los controladores de asignaciones. El estado de seguimiento lo calcula el servidor: el usuario solo escribe el promedio.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Presupuesto usado = asignaciones aprobadas × monto del tipo de beca. Disponible = presupuesto de la convocatoria − usado. El dinero solo se contabiliza; no hay pagos en 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Registrar periodo: se escribe periodo, promedio, fecha y observaciones. El sistema pone el estado. Limitación conocida: un becario recién aprobado no aparece hasta registrar su primer periodo (ver diapositiva de mejoras).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matriz vive en backend/src/auth/permisos.ts (única fuente). El frontend solo oculta botones según los permisos que envía el servidor; si alguien se salta la interfaz, el servidor responde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4 tablas originales del SRS son Estudiante, Evaluacion, Resultado y Beca; el resto se agregó para asignaciones, seguimiento y usuarios. Decisiones documentadas en docs/DECISIONES.md.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se ejecutaron en la revisión: backend 52/52 y frontend 11/11.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Decirlo con seguridad: son mejoras identificadas, no errores ocultos. Muestra que probamos el sistema de punta a punta.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Usuarios de demostración: admin, evaluador, consulta. Probar también con consulta para mostrar que los botones desaparecen.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Completar los nombres según quién expone cada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DSS-Becas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Soporte a Decisiones para la asignación y seguimiento de becas universitarias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Universitario · Equipo de 5 integrantes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 el sistema?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Recomienda, no decide: la persona aprueba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ASIGNAR una beca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975"/>
                </a:solidFill>
              </a:rPr>
              <a:t>Postulantes sin beca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603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</a:rPr>
              <a:t>Se califican 5 criterios → puntaje → ranking → se aprueba según cupos y presupuesto.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SEGUIR al becario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975"/>
                </a:solidFill>
              </a:rPr>
              <a:t>Estudiantes con beca aprobada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5603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</a:rPr>
              <a:t>Cada semestre se registra su promedio. Si baja de 51 queda «En riesgo».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975"/>
                </a:solidFill>
              </a:rPr>
              <a:t>Pantallas: Estudiantes · Evaluación DSS · Becas   |   Pantalla: Seguimiento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usamos y para qué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TypeScript + 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por componentes, tipada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del servidor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TanStack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Caché, cargando/error, refresco tras guardar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+ Express + TypeScript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 en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+ Prisma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 tipado; portable a MySQL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claros por 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bcrypt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Sesión por token y contraseñas con hash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+ supertest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 pruebas backend, 11 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por capas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del puntaje vive solo en el Motor DSS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7432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5"/>
                </a:solidFill>
              </a:rPr>
              <a:t>React + TanStack 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38528" y="2514600"/>
            <a:ext cx="182880" cy="0"/>
          </a:xfrm>
          <a:prstGeom prst="line">
            <a:avLst/>
          </a:prstGeom>
          <a:noFill/>
          <a:ln w="19050">
            <a:solidFill>
              <a:srgbClr val="5A697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73736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874520"/>
            <a:ext cx="457200" cy="45720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21992" y="27432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5"/>
                </a:solidFill>
              </a:rPr>
              <a:t>Sesión (JWT) → permiso → Zod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0168" y="2514600"/>
            <a:ext cx="182880" cy="0"/>
          </a:xfrm>
          <a:prstGeom prst="line">
            <a:avLst/>
          </a:prstGeom>
          <a:noFill/>
          <a:ln w="19050">
            <a:solidFill>
              <a:srgbClr val="5A697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173736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1874520"/>
            <a:ext cx="457200" cy="457200"/>
          </a:xfrm>
          <a:prstGeom prst="ellipse">
            <a:avLst/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7432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5"/>
                </a:solidFill>
              </a:rPr>
              <a:t>Reciben la petición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21808" y="2514600"/>
            <a:ext cx="182880" cy="0"/>
          </a:xfrm>
          <a:prstGeom prst="line">
            <a:avLst/>
          </a:prstGeom>
          <a:noFill/>
          <a:ln w="19050">
            <a:solidFill>
              <a:srgbClr val="5A69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32120" y="173736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874520"/>
            <a:ext cx="457200" cy="457200"/>
          </a:xfrm>
          <a:prstGeom prst="ellipse">
            <a:avLst/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DSS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05272" y="27432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5"/>
                </a:solidFill>
              </a:rPr>
              <a:t>Funciones puras del puntaje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13448" y="2514600"/>
            <a:ext cx="182880" cy="0"/>
          </a:xfrm>
          <a:prstGeom prst="line">
            <a:avLst/>
          </a:prstGeom>
          <a:noFill/>
          <a:ln w="19050">
            <a:solidFill>
              <a:srgbClr val="5A697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23760" y="173736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26680" y="1874520"/>
            <a:ext cx="457200" cy="457200"/>
          </a:xfrm>
          <a:prstGeom prst="ellipse">
            <a:avLst/>
          </a:prstGeom>
          <a:solidFill>
            <a:srgbClr val="5A6975"/>
          </a:solidFill>
          <a:ln w="12700">
            <a:solidFill>
              <a:srgbClr val="5A697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→ SQLite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296912" y="274320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5"/>
                </a:solidFill>
              </a:rPr>
              <a:t>Guarda los datos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</a:rPr>
              <a:t>Un error en cualquier punto vuelve al cliente como JSON {error, detalles} con su código (400, 401, 403, 404, 409…).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los 8 módulos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punto pasa cada cosa?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3D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3"/>
                </a:solidFill>
              </a:rPr>
              <a:t>Prepara: convocatoria, cupos, montos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938528" y="2194560"/>
            <a:ext cx="182880" cy="0"/>
          </a:xfrm>
          <a:prstGeom prst="line">
            <a:avLst/>
          </a:prstGeom>
          <a:noFill/>
          <a:ln w="19050">
            <a:solidFill>
              <a:srgbClr val="5A697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194560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3D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Estudiantes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3"/>
                </a:solidFill>
              </a:rPr>
              <a:t>Registra al postulante (Pendiente)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30168" y="2194560"/>
            <a:ext cx="182880" cy="0"/>
          </a:xfrm>
          <a:prstGeom prst="line">
            <a:avLst/>
          </a:prstGeom>
          <a:noFill/>
          <a:ln w="19050">
            <a:solidFill>
              <a:srgbClr val="5A69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4048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886200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DSS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3"/>
                </a:solidFill>
              </a:rPr>
              <a:t>CALIFICA: puntaje y etiqueta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21808" y="2194560"/>
            <a:ext cx="182880" cy="0"/>
          </a:xfrm>
          <a:prstGeom prst="line">
            <a:avLst/>
          </a:prstGeom>
          <a:noFill/>
          <a:ln w="19050">
            <a:solidFill>
              <a:srgbClr val="5A697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3212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577840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3"/>
                </a:solidFill>
              </a:rPr>
              <a:t>DA la beca (y la quita)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13448" y="2194560"/>
            <a:ext cx="182880" cy="0"/>
          </a:xfrm>
          <a:prstGeom prst="line">
            <a:avLst/>
          </a:prstGeom>
          <a:noFill/>
          <a:ln w="19050">
            <a:solidFill>
              <a:srgbClr val="5A69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23760" y="13716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269480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240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3"/>
                </a:solidFill>
              </a:rPr>
              <a:t>VIGILA el promedio por semestre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9EEF2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9436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</a:rPr>
              <a:t>Dashboard  </a:t>
            </a:r>
            <a:pPr indent="0" marL="0">
              <a:buNone/>
            </a:pPr>
            <a:r>
              <a:rPr lang="en-US" sz="1300" dirty="0">
                <a:solidFill>
                  <a:srgbClr val="5A6975"/>
                </a:solidFill>
              </a:rPr>
              <a:t>Indicadores y ranking (solo ver)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46120" y="33832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9EEF2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38328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</a:rPr>
              <a:t>Reportes  </a:t>
            </a:r>
            <a:pPr indent="0" marL="0">
              <a:buNone/>
            </a:pPr>
            <a:r>
              <a:rPr lang="en-US" sz="1300" dirty="0">
                <a:solidFill>
                  <a:srgbClr val="5A6975"/>
                </a:solidFill>
              </a:rPr>
              <a:t>Resumen, CSV e impresión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35040" y="33832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E9EEF2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17220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3D"/>
                </a:solidFill>
              </a:rPr>
              <a:t>Administración  </a:t>
            </a:r>
            <a:pPr indent="0" marL="0">
              <a:buNone/>
            </a:pPr>
            <a:r>
              <a:rPr lang="en-US" sz="1300" dirty="0">
                <a:solidFill>
                  <a:srgbClr val="5A6975"/>
                </a:solidFill>
              </a:rPr>
              <a:t>Usuarios y roles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DSS: cómo se calcula el puntaje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ponderada de 5 criterios (0–100)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califica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 académico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tan bien le 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Asistencia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 socioeconómica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 (ingreso bajo = nota alta)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familiar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Dependientes del hogar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 vulnerable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 acreditada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80160"/>
            <a:ext cx="2834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3504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035040" y="1828800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1783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</a:rPr>
              <a:t>≥ 80  </a:t>
            </a:r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</a:rPr>
              <a:t>Recomendado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2331720"/>
            <a:ext cx="201168" cy="201168"/>
          </a:xfrm>
          <a:prstGeom prst="ellipse">
            <a:avLst/>
          </a:prstGeom>
          <a:solidFill>
            <a:srgbClr val="8A6D00"/>
          </a:solidFill>
          <a:ln w="12700">
            <a:solidFill>
              <a:srgbClr val="8A6D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2286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</a:rPr>
              <a:t>60 – 79  </a:t>
            </a:r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</a:rPr>
              <a:t>En revisión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035040" y="2834640"/>
            <a:ext cx="201168" cy="201168"/>
          </a:xfrm>
          <a:prstGeom prst="ellipse">
            <a:avLst/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2788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</a:rPr>
              <a:t>&lt; 60  </a:t>
            </a:r>
            <a:pPr indent="0" marL="0">
              <a:buNone/>
            </a:pPr>
            <a:r>
              <a:rPr lang="en-US" sz="1400" dirty="0">
                <a:solidFill>
                  <a:srgbClr val="1F2A33"/>
                </a:solidFill>
              </a:rPr>
              <a:t>En riesgo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F2A3D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85800" y="3657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Ejemplo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90 / 80 / 70 / 60 / 50  →  (90·30 + 80·15 + 70·25 + 60·15 + 50·15) / 100  =  </a:t>
            </a:r>
            <a:pPr indent="0" marL="0">
              <a:buNone/>
            </a:pPr>
            <a:r>
              <a:rPr lang="en-US" sz="1600" b="1" dirty="0">
                <a:solidFill>
                  <a:srgbClr val="7FE0D8"/>
                </a:solidFill>
              </a:rPr>
              <a:t>73.0 · En revisión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DSS en pantalla</a:t>
            </a:r>
            <a:endParaRPr lang="en-US" sz="2800" dirty="0"/>
          </a:p>
        </p:txBody>
      </p:sp>
      <p:pic>
        <p:nvPicPr>
          <p:cNvPr id="3" name="Image 0" descr="/home/user/DSS-Becas/docs/guia_capturas/ui/06_evalu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212080" cy="311277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1005840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señalar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5087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estudiante y se ponen 5 notas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son fijos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73.0 → En revisión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promedio &lt; 51: «No elegible»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que protegen la decisión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funciona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Elegibilidad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mínimo 51. Beca Social: ingreso familiar máx. Bs 4000. Si falla → «No elegible» con el motivo.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fila por estudiante (su mejor puntaje). Desempate: promedio ↓, luego menor ingreso.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«Generar asignación» solo toma cupos libres del tipo de beca.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Rechazar u observar exige justificación de mínimo 10 caracteres.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del periodo &lt; 51 → «En riesgo». Dos periodos seguidos → se sugiere suspender.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Becas: asignar y controlar presupuesto</a:t>
            </a:r>
            <a:endParaRPr lang="en-US" sz="2800" dirty="0"/>
          </a:p>
        </p:txBody>
      </p:sp>
      <p:pic>
        <p:nvPicPr>
          <p:cNvPr id="3" name="Image 0" descr="/home/user/DSS-Becas/docs/guia_capturas/ui/07_bec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212080" cy="311277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1005840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señalar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5087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 + tipo de beca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 y presupuesto usado / disponible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asignación → top-N por cupos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· Rechazar · Observar · Revocar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académico</a:t>
            </a:r>
            <a:endParaRPr lang="en-US" sz="2800" dirty="0"/>
          </a:p>
        </p:txBody>
      </p:sp>
      <p:pic>
        <p:nvPicPr>
          <p:cNvPr id="3" name="Image 0" descr="/home/user/DSS-Becas/docs/guia_capturas/ui/08_seguimi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5212080" cy="311277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52160" y="1005840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señalar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5087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periodo lleva su promedio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automático: &lt; 51 = En riesgo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historial: línea de tiempo y sugerencia de suspensión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roles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en el servidor, no solo en la pantalla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210312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Crear, editar, eliminar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Crear, editar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Evaluación DSS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Generar, decidir, revocar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Aprobar / rechazar / observar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periodos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Ver,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Ver,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Ver,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y Administración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</a:rPr>
              <a:t>Login con JWT (8 h) · contraseñas con bcrypt · 5 intentos fallidos = bloqueo 10 min · un test verifica que ninguna ruta quede sin permiso.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SQLite, integridad referencial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sirve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personales, académicos y socioeconómicos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Evaluacion / 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Puntajes por fecha / etiqueta vigente (una por estudiante)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Estudiante ↔ convocatoria ↔ tipo de beca (no se repite)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por periodo de cada asignación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Carrera · TipoBeca · Convocatoria · 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Catálogos configurables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· Documento · 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Historial, archivos adjuntos y acceso al sistema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</a:rPr>
              <a:t>Al eliminar un estudiante se borran en cascada sus datos; un tipo de beca o convocatoria con asignaciones no se puede borrar.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y pruebas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5"/>
                </a:solidFill>
              </a:rPr>
              <a:t>pruebas 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975"/>
                </a:solidFill>
              </a:rPr>
              <a:t>(pasan)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5"/>
                </a:solidFill>
              </a:rPr>
              <a:t>pruebas 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975"/>
                </a:solidFill>
              </a:rPr>
              <a:t>(pasan)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5"/>
                </a:solidFill>
              </a:rPr>
              <a:t>issues QA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975"/>
                </a:solidFill>
              </a:rPr>
              <a:t>cerrados (#1–#9)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5"/>
                </a:solidFill>
              </a:rPr>
              <a:t>decisiones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975"/>
                </a:solidFill>
              </a:rPr>
              <a:t>documentadas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089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QA con checklist ISO 25010 y matriz de trazabilidad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la API documentado en OpenAPI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con issues, ramas, commits convencionales y pull requests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docs-first: cada cambio actualiza su documento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conocidas y mejoras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detectamos probando el sistema completo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 prevista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pesos editables en Configuración no cambian el cálculo (el motor usa pesos fijos)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el motor lea los pesos de la base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becario aprobado no aparece en Seguimiento hasta registrar su primer periodo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 a todos los becarios aprobados, una fila por becario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«Generar asignación» controla cupos pero no presupuesto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también el dinero disponible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servidor confía en el puntaje que envía el cliente al guardar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Recalcular el puntaje en el servidor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«Suspendida» solo se sugiere; la beca se quita en Becas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Botón «Suspender» conectado a Seguimiento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5 pasos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</a:rPr>
              <a:t>Login como admin → Dashboard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984248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8928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</a:rPr>
              <a:t>Estudiantes → + Nuevo estudiante → Guardar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42616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55117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</a:rPr>
              <a:t>Evaluación DSS: 90/80/70/60/50 → 73.0 En revisión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300984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20954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</a:rPr>
              <a:t>Becas: Generar asignación → Rechazar sin motivo (bloquea) y con motivo (pasa)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6791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959352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86791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3"/>
                </a:solidFill>
              </a:rPr>
              <a:t>Seguimiento: promedio 45 → «En riesgo» · Reportes → CSV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¿Preguntas?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5943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468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Bloque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Integrante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Motor DSS y pruebas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__________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Base de datos y API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__________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Seguridad y validación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__________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Frontend: estructura y servicios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__________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Frontend: pantallas y documentación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__________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5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84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DSS-Becas</dc:title>
  <dc:subject>PptxGenJS Presentation</dc:subject>
  <dc:creator>PptxGenJS</dc:creator>
  <cp:lastModifiedBy>PptxGenJS</cp:lastModifiedBy>
  <cp:revision>1</cp:revision>
  <dcterms:created xsi:type="dcterms:W3CDTF">2026-09-29T22:38:02Z</dcterms:created>
  <dcterms:modified xsi:type="dcterms:W3CDTF">2026-09-29T22:38:02Z</dcterms:modified>
</cp:coreProperties>
</file>